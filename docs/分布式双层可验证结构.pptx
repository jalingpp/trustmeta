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95DB3-B907-F7F1-7438-35C22105A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FA4984-991F-0EFE-C7B0-680A23D54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3C7A3-BDB9-D789-5415-296FA6C8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E1E33-95D4-B231-D36D-A875DD6EA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FE381-BFF1-47D7-4708-0B3F57CE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7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58908-44D3-4BB1-3749-0F8AB132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6C498-07EE-74DB-FEE9-661B0FEA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FA8B3-B4D0-31B4-9F16-BC8C2885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BB2874-266F-5CE3-F6E1-36C3B97A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A0BAC0-FC15-703E-AD7D-1A70C5EB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41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EE0D2-3ACC-4ABB-1956-8FE62B7CF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5FE66-07BD-F193-D7BB-E3C275717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54283-0D12-FE28-9D76-B48C86B3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6425E9-699A-FF6B-BA88-32317547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829494-B13D-5382-C9D1-D8B7B24E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1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A1720-3E10-F10E-1988-5C38564E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966D21-9428-A031-EBF3-22E63FB9B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5D7207-2695-609E-092F-1221085A3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D504C-3484-AA2E-F00F-23C0698C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291AEC-A765-C83F-7384-54D6AA34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A81842-3197-48E6-091C-26442B32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39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AE27A-5AF0-3943-0953-E3926202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F0E08-8777-1C24-7BBC-AB46A374D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2545D1-4B57-0E21-6E6A-F28CB02B6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A9BCD4-E65D-917D-444E-DB2D97A2AE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813681-70F5-D527-33B8-5B7A1E04F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BA00DB-02EB-9B6C-D2F7-6397A5E7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7C81FC-59B6-2A38-7BCB-1C711C41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754951-9116-28CB-4618-567EA772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06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D3432-A2A3-95B6-D299-7458B48C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3DEAC0-56B5-3713-DDCF-CF5421E6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C8DA7-9A64-D8F7-76FC-34D0F566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C1D80B-FE0A-51D6-38A0-9EB5FAC9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0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0A0D72-6584-348F-62DD-4459278D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821FDE-9031-5B59-4FD6-D5175498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60BE4-0899-C0BE-5A43-1885E2B2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B71FF-0731-404E-A02A-7C018D77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40FEA0-E613-39AD-BDF1-3878B33DF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282292-F00C-D491-AAD9-2CDC37915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F35330-1137-24BA-ED7A-FC228F7A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0D8CDB-8748-559B-F3C7-1DDB2E4B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6BEFA-2752-374A-79B1-1CFC53FB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2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D8B50-ED05-7DAB-E4EB-F4760063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E98A37-5855-6AFE-F170-224F9AF65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82EAD-AFC8-63DA-A488-8909725F4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55F6DB-349A-0447-941D-393BC5CA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617A44-1E84-AC62-AAF7-C8A4AA9A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94B7B7-EFE7-CE26-9D55-57D053B5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12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5B871-4F7E-9B5F-C3AA-4CE3A3A1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F00F2-E9C5-7B00-ED42-9812433FE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A25CD-ABAA-A2EE-BBDD-C500DEA5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808DF-E394-D83F-ED5B-D9549D96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09B15-C614-6FE1-C9E0-474AD8BC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33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5F2B5F-F6BA-E063-03B0-6560A77AA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1168D1-4CCC-517A-CE04-5A027B72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C51FCE-EA42-D617-3B61-765C29EF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71775A-6E08-8B33-E37E-D809C9F9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4ECA6-301D-98EC-2844-CB78A2C8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34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5A2992-5DE0-9652-CBC0-3CF0C16C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657040-D558-9EB8-E5E9-8E1EC5D8A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AFF160-0FA9-41C9-24BF-ACD52A5E5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9E993-DB11-4D03-8FD2-A9C36F9DFF6A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257DF-42D7-2BE7-51D7-D99603F77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6CA2F4-74C5-0C36-D1FD-E8CEE0266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21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2" y="981076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990" y="1276351"/>
            <a:ext cx="6960093" cy="551497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插入（</a:t>
            </a:r>
            <a:r>
              <a:rPr lang="en-US" altLang="zh-CN" sz="1800" dirty="0" err="1"/>
              <a:t>key,values</a:t>
            </a:r>
            <a:r>
              <a:rPr lang="zh-CN" altLang="en-US" sz="1800" dirty="0"/>
              <a:t>）：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中定位待插入的</a:t>
            </a:r>
            <a:r>
              <a:rPr lang="en-US" altLang="zh-CN" sz="1400" dirty="0"/>
              <a:t>KV</a:t>
            </a:r>
            <a:r>
              <a:rPr lang="zh-CN" altLang="en-US" sz="1400" dirty="0"/>
              <a:t>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在存储节点的</a:t>
            </a:r>
            <a:r>
              <a:rPr lang="en-US" altLang="zh-CN" sz="1400" dirty="0" err="1"/>
              <a:t>AccTrie</a:t>
            </a:r>
            <a:r>
              <a:rPr lang="zh-CN" altLang="en-US" sz="1400" dirty="0"/>
              <a:t>树中合适位置找到或创建一个叶子节点</a:t>
            </a:r>
            <a:r>
              <a:rPr lang="en-US" altLang="zh-CN" sz="1400" dirty="0"/>
              <a:t>LN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3. </a:t>
            </a:r>
            <a:r>
              <a:rPr lang="zh-CN" altLang="en-US" sz="1400" dirty="0"/>
              <a:t>更新</a:t>
            </a:r>
            <a:r>
              <a:rPr lang="en-US" altLang="zh-CN" sz="1400" dirty="0"/>
              <a:t>LN</a:t>
            </a:r>
            <a:r>
              <a:rPr lang="zh-CN" altLang="en-US" sz="1400" dirty="0"/>
              <a:t>的</a:t>
            </a:r>
            <a:r>
              <a:rPr lang="en-US" altLang="zh-CN" sz="1400" dirty="0"/>
              <a:t>Values</a:t>
            </a:r>
            <a:r>
              <a:rPr lang="zh-CN" altLang="en-US" sz="1400" dirty="0"/>
              <a:t>值和</a:t>
            </a:r>
            <a:r>
              <a:rPr lang="en-US" altLang="zh-CN" sz="1400" dirty="0"/>
              <a:t>Acc</a:t>
            </a:r>
            <a:r>
              <a:rPr lang="zh-CN" altLang="en-US" sz="1400" dirty="0"/>
              <a:t>值；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获取前序叶子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加入到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中；若前序（后序）叶子不存在，则将“</a:t>
            </a:r>
            <a:r>
              <a:rPr lang="en-US" altLang="zh-CN" sz="1400" dirty="0" err="1"/>
              <a:t>NoPrev</a:t>
            </a:r>
            <a:r>
              <a:rPr lang="zh-CN" altLang="en-US" sz="1400" dirty="0"/>
              <a:t>”（“</a:t>
            </a:r>
            <a:r>
              <a:rPr lang="en-US" altLang="zh-CN" sz="1400" dirty="0" err="1"/>
              <a:t>NoNext</a:t>
            </a:r>
            <a:r>
              <a:rPr lang="zh-CN" altLang="en-US" sz="1400" dirty="0"/>
              <a:t>”）添加到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中；</a:t>
            </a:r>
            <a:endParaRPr lang="en-US" altLang="zh-CN" sz="1400" dirty="0"/>
          </a:p>
          <a:p>
            <a:pPr lvl="1"/>
            <a:r>
              <a:rPr lang="en-US" altLang="zh-CN" sz="1400" dirty="0"/>
              <a:t>5. </a:t>
            </a:r>
            <a:r>
              <a:rPr lang="zh-CN" altLang="en-US" sz="1400" dirty="0"/>
              <a:t>若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的后序不为空，则返回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，将</a:t>
            </a:r>
            <a:r>
              <a:rPr lang="en-US" altLang="zh-CN" sz="1400" dirty="0"/>
              <a:t>key</a:t>
            </a:r>
            <a:r>
              <a:rPr lang="zh-CN" altLang="en-US" sz="1400" dirty="0"/>
              <a:t>加入到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中，同时在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中删除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设置为</a:t>
            </a:r>
            <a:r>
              <a:rPr lang="en-US" altLang="zh-CN" sz="1400" dirty="0"/>
              <a:t>LN</a:t>
            </a:r>
            <a:r>
              <a:rPr lang="zh-CN" altLang="en-US" sz="1400" dirty="0"/>
              <a:t>的后序叶子；</a:t>
            </a:r>
            <a:endParaRPr lang="en-US" altLang="zh-CN" sz="1400" dirty="0"/>
          </a:p>
          <a:p>
            <a:pPr lvl="1"/>
            <a:r>
              <a:rPr lang="en-US" altLang="zh-CN" sz="1400" dirty="0"/>
              <a:t>6. </a:t>
            </a:r>
            <a:r>
              <a:rPr lang="zh-CN" altLang="en-US" sz="1400" dirty="0"/>
              <a:t>返回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的新旧值给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7. Auditor</a:t>
            </a:r>
            <a:r>
              <a:rPr lang="zh-CN" altLang="en-US" sz="1400" dirty="0"/>
              <a:t>验证插入的有效性并更新根</a:t>
            </a:r>
            <a:r>
              <a:rPr lang="en-US" altLang="zh-CN" sz="1400" dirty="0"/>
              <a:t>Acc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2"/>
            <a:r>
              <a:rPr lang="zh-CN" altLang="en-US" sz="1200" dirty="0"/>
              <a:t>①比较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en-US" altLang="zh-CN" sz="1200" dirty="0"/>
              <a:t>&lt;key&lt;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n</a:t>
            </a:r>
            <a:r>
              <a:rPr lang="zh-CN" altLang="en-US" sz="1200" dirty="0"/>
              <a:t>三者存在字典序；</a:t>
            </a:r>
            <a:endParaRPr lang="en-US" altLang="zh-CN" sz="1200" dirty="0"/>
          </a:p>
          <a:p>
            <a:pPr lvl="2"/>
            <a:r>
              <a:rPr lang="zh-CN" altLang="en-US" sz="1200" dirty="0"/>
              <a:t>②验证旧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中是否存在，存在则删除；</a:t>
            </a:r>
            <a:endParaRPr lang="en-US" altLang="zh-CN" sz="1200" dirty="0"/>
          </a:p>
          <a:p>
            <a:pPr lvl="2"/>
            <a:r>
              <a:rPr lang="zh-CN" altLang="en-US" sz="1200" dirty="0"/>
              <a:t>③验证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在旧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④验证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⑤验证</a:t>
            </a:r>
            <a:r>
              <a:rPr lang="en-US" altLang="zh-CN" sz="1200" dirty="0"/>
              <a:t>key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⑥在根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中添加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和新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en-US" altLang="zh-CN" sz="1200" dirty="0"/>
              <a:t>.</a:t>
            </a:r>
            <a:r>
              <a:rPr lang="zh-CN" altLang="en-US" sz="1200" dirty="0"/>
              <a:t>。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22501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87" y="1169824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40" y="981075"/>
            <a:ext cx="6962035" cy="5772150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删除（</a:t>
            </a:r>
            <a:r>
              <a:rPr lang="en-US" altLang="zh-CN" sz="1800" dirty="0" err="1"/>
              <a:t>key,values</a:t>
            </a:r>
            <a:r>
              <a:rPr lang="zh-CN" altLang="en-US" sz="1800" dirty="0"/>
              <a:t>）：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中定位待删除的</a:t>
            </a:r>
            <a:r>
              <a:rPr lang="en-US" altLang="zh-CN" sz="1400" dirty="0"/>
              <a:t>KV</a:t>
            </a:r>
            <a:r>
              <a:rPr lang="zh-CN" altLang="en-US" sz="1400" dirty="0"/>
              <a:t>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在存储节点的</a:t>
            </a:r>
            <a:r>
              <a:rPr lang="en-US" altLang="zh-CN" sz="1400" dirty="0" err="1"/>
              <a:t>AccTrie</a:t>
            </a:r>
            <a:r>
              <a:rPr lang="zh-CN" altLang="en-US" sz="1400" dirty="0"/>
              <a:t>树中找到</a:t>
            </a:r>
            <a:r>
              <a:rPr lang="en-US" altLang="zh-CN" sz="1400" dirty="0"/>
              <a:t>key</a:t>
            </a:r>
            <a:r>
              <a:rPr lang="zh-CN" altLang="en-US" sz="1400" dirty="0"/>
              <a:t>对应的叶子节点</a:t>
            </a:r>
            <a:r>
              <a:rPr lang="en-US" altLang="zh-CN" sz="1400" dirty="0"/>
              <a:t>LN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3.</a:t>
            </a:r>
            <a:r>
              <a:rPr lang="zh-CN" altLang="en-US" sz="1400" dirty="0"/>
              <a:t> 若只删除部分</a:t>
            </a:r>
            <a:r>
              <a:rPr lang="en-US" altLang="zh-CN" sz="1400" dirty="0"/>
              <a:t>Values</a:t>
            </a:r>
            <a:r>
              <a:rPr lang="zh-CN" altLang="en-US" sz="1400" dirty="0"/>
              <a:t>，则更新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并将新旧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返给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更新根</a:t>
            </a:r>
            <a:r>
              <a:rPr lang="en-US" altLang="zh-CN" sz="1400" dirty="0"/>
              <a:t>Acc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若删除整个叶子节点</a:t>
            </a:r>
            <a:r>
              <a:rPr lang="en-US" altLang="zh-CN" sz="1400" dirty="0"/>
              <a:t>LN</a:t>
            </a:r>
            <a:r>
              <a:rPr lang="zh-CN" altLang="en-US" sz="1400" dirty="0"/>
              <a:t>，则获取前序叶子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，获取后序叶子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，在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中删除</a:t>
            </a:r>
            <a:r>
              <a:rPr lang="en-US" altLang="zh-CN" sz="1400" dirty="0"/>
              <a:t>key</a:t>
            </a:r>
            <a:r>
              <a:rPr lang="zh-CN" altLang="en-US" sz="1400" dirty="0"/>
              <a:t>并加入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，将前序指针指向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的后序指针指向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5. </a:t>
            </a:r>
            <a:r>
              <a:rPr lang="zh-CN" altLang="en-US" sz="1400" dirty="0"/>
              <a:t>返回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的新旧值给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6. Auditor</a:t>
            </a:r>
            <a:r>
              <a:rPr lang="zh-CN" altLang="en-US" sz="1400" dirty="0"/>
              <a:t>验证删除的有效性并更新</a:t>
            </a:r>
            <a:r>
              <a:rPr lang="en-US" altLang="zh-CN" sz="1400" dirty="0"/>
              <a:t>Acc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2"/>
            <a:r>
              <a:rPr lang="zh-CN" altLang="en-US" sz="1200" dirty="0"/>
              <a:t>①比较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en-US" altLang="zh-CN" sz="1200" dirty="0"/>
              <a:t>&lt;key&lt;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n</a:t>
            </a:r>
            <a:r>
              <a:rPr lang="zh-CN" altLang="en-US" sz="1200" dirty="0"/>
              <a:t>三者存在字典序；</a:t>
            </a:r>
            <a:endParaRPr lang="en-US" altLang="zh-CN" sz="1200" dirty="0"/>
          </a:p>
          <a:p>
            <a:pPr lvl="2"/>
            <a:r>
              <a:rPr lang="zh-CN" altLang="en-US" sz="1200" dirty="0"/>
              <a:t>②验证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③验证</a:t>
            </a:r>
            <a:r>
              <a:rPr lang="en-US" altLang="zh-CN" sz="1200" dirty="0"/>
              <a:t>key</a:t>
            </a:r>
            <a:r>
              <a:rPr lang="zh-CN" altLang="en-US" sz="1200" dirty="0"/>
              <a:t>在旧</a:t>
            </a:r>
            <a:r>
              <a:rPr lang="en-US" altLang="zh-CN" sz="1200" dirty="0" err="1"/>
              <a:t>LNn.Acc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④验证</a:t>
            </a:r>
            <a:r>
              <a:rPr lang="en-US" altLang="zh-CN" sz="1200" dirty="0"/>
              <a:t>key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⑤在根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中删除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和旧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lvl="2"/>
            <a:r>
              <a:rPr lang="zh-CN" altLang="en-US" sz="1200" dirty="0"/>
              <a:t>⑥在根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中添加新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en-US" altLang="zh-CN" sz="1200" dirty="0"/>
              <a:t>.</a:t>
            </a:r>
          </a:p>
          <a:p>
            <a:pPr marL="914400" lvl="2" indent="0">
              <a:buNone/>
            </a:pPr>
            <a:endParaRPr lang="en-US" altLang="zh-CN" sz="1000" dirty="0"/>
          </a:p>
          <a:p>
            <a:pPr lvl="1"/>
            <a:endParaRPr lang="en-US" altLang="zh-CN" sz="14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2517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2" y="981076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40" y="1213835"/>
            <a:ext cx="7075503" cy="5117884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查询</a:t>
            </a:r>
            <a:r>
              <a:rPr lang="en-US" altLang="zh-CN" sz="1800" dirty="0"/>
              <a:t>values </a:t>
            </a:r>
            <a:r>
              <a:rPr lang="en-US" altLang="zh-CN" sz="1800" dirty="0">
                <a:sym typeface="Wingdings" panose="05000000000000000000" pitchFamily="2" charset="2"/>
              </a:rPr>
              <a:t> (</a:t>
            </a:r>
            <a:r>
              <a:rPr lang="en-US" altLang="zh-CN" sz="1800" dirty="0"/>
              <a:t>key)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中定位查询所在的存储节点；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在存储节点中根据路径定位至对应叶子节点；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3. </a:t>
            </a:r>
            <a:r>
              <a:rPr lang="zh-CN" altLang="en-US" sz="1400" dirty="0"/>
              <a:t>若所查询的值存在，则返回对应的累加器值；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若所查询的值不存在，则构造不存在证明：</a:t>
            </a:r>
            <a:endParaRPr lang="en-US" altLang="zh-CN" sz="1400" dirty="0"/>
          </a:p>
          <a:p>
            <a:pPr lvl="2"/>
            <a:r>
              <a:rPr lang="en-US" altLang="zh-CN" sz="1400" dirty="0"/>
              <a:t>4.1</a:t>
            </a:r>
            <a:r>
              <a:rPr lang="zh-CN" altLang="en-US" sz="1400" dirty="0"/>
              <a:t> 获取查询</a:t>
            </a:r>
            <a:r>
              <a:rPr lang="en-US" altLang="zh-CN" sz="1400" dirty="0"/>
              <a:t>key</a:t>
            </a:r>
            <a:r>
              <a:rPr lang="zh-CN" altLang="en-US" sz="1400" dirty="0"/>
              <a:t>的前序叶子节点的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和后序叶子节点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2"/>
            <a:r>
              <a:rPr lang="en-US" altLang="zh-CN" sz="1400" dirty="0"/>
              <a:t>4.2</a:t>
            </a:r>
            <a:r>
              <a:rPr lang="zh-CN" altLang="en-US" sz="1400" dirty="0"/>
              <a:t> 返回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进行验证：</a:t>
            </a:r>
            <a:endParaRPr lang="en-US" altLang="zh-CN" sz="1400" dirty="0"/>
          </a:p>
          <a:p>
            <a:pPr lvl="3"/>
            <a:r>
              <a:rPr lang="zh-CN" altLang="en-US" sz="1400" dirty="0"/>
              <a:t>①验证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en-US" altLang="zh-CN" sz="1400" dirty="0"/>
              <a:t>&lt;key&lt;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en-US" altLang="zh-CN" sz="1400" dirty="0"/>
              <a:t>;</a:t>
            </a:r>
          </a:p>
          <a:p>
            <a:pPr lvl="3"/>
            <a:r>
              <a:rPr lang="zh-CN" altLang="en-US" sz="1400" dirty="0"/>
              <a:t>②验证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在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中是否存在。</a:t>
            </a:r>
            <a:endParaRPr lang="en-US" altLang="zh-CN" sz="1400" dirty="0"/>
          </a:p>
          <a:p>
            <a:pPr lvl="1"/>
            <a:endParaRPr lang="en-US" altLang="zh-CN" sz="14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5814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2" y="981076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40" y="1213835"/>
            <a:ext cx="6552460" cy="5117884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布尔查询</a:t>
            </a:r>
            <a:r>
              <a:rPr lang="en-US" altLang="zh-CN" sz="1800" dirty="0"/>
              <a:t>values </a:t>
            </a:r>
            <a:r>
              <a:rPr lang="en-US" altLang="zh-CN" sz="1800" dirty="0">
                <a:sym typeface="Wingdings" panose="05000000000000000000" pitchFamily="2" charset="2"/>
              </a:rPr>
              <a:t> (</a:t>
            </a:r>
            <a:r>
              <a:rPr lang="en-US" altLang="zh-CN" sz="1800" dirty="0"/>
              <a:t>key1</a:t>
            </a:r>
            <a:r>
              <a:rPr lang="zh-CN" altLang="en-US" sz="1800" dirty="0"/>
              <a:t>∩</a:t>
            </a:r>
            <a:r>
              <a:rPr lang="en-US" altLang="zh-CN" sz="1800" dirty="0"/>
              <a:t>key2)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</a:t>
            </a:r>
            <a:r>
              <a:rPr lang="en-US" altLang="zh-CN" sz="1400" dirty="0"/>
              <a:t>key1</a:t>
            </a:r>
            <a:r>
              <a:rPr lang="zh-CN" altLang="en-US" sz="1400" dirty="0"/>
              <a:t>和</a:t>
            </a:r>
            <a:r>
              <a:rPr lang="en-US" altLang="zh-CN" sz="1400" dirty="0"/>
              <a:t>key2</a:t>
            </a:r>
            <a:r>
              <a:rPr lang="zh-CN" altLang="en-US" sz="1400" dirty="0"/>
              <a:t>分别所在的存储节点；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在各存储节点中获得单个关键词的查询结果集</a:t>
            </a:r>
            <a:r>
              <a:rPr lang="en-US" altLang="zh-CN" sz="1400" dirty="0"/>
              <a:t>S1</a:t>
            </a:r>
            <a:r>
              <a:rPr lang="zh-CN" altLang="en-US" sz="1400" dirty="0"/>
              <a:t>和</a:t>
            </a:r>
            <a:r>
              <a:rPr lang="en-US" altLang="zh-CN" sz="1400" dirty="0"/>
              <a:t>S2</a:t>
            </a:r>
            <a:r>
              <a:rPr lang="zh-CN" altLang="en-US" sz="1400" dirty="0"/>
              <a:t>及其证明</a:t>
            </a:r>
            <a:r>
              <a:rPr lang="en-US" altLang="zh-CN" sz="1400" dirty="0"/>
              <a:t>P1</a:t>
            </a:r>
            <a:r>
              <a:rPr lang="zh-CN" altLang="en-US" sz="1400" dirty="0"/>
              <a:t>和</a:t>
            </a:r>
            <a:r>
              <a:rPr lang="en-US" altLang="zh-CN" sz="1400" dirty="0"/>
              <a:t>P2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3. Auditor</a:t>
            </a:r>
            <a:r>
              <a:rPr lang="zh-CN" altLang="en-US" sz="1400" dirty="0"/>
              <a:t>生成交集及证明。</a:t>
            </a:r>
            <a:endParaRPr lang="en-US" altLang="zh-CN" sz="14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890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7C25819-333F-B5AB-3837-8576E34C044C}"/>
              </a:ext>
            </a:extLst>
          </p:cNvPr>
          <p:cNvSpPr/>
          <p:nvPr/>
        </p:nvSpPr>
        <p:spPr>
          <a:xfrm>
            <a:off x="1597445" y="1013551"/>
            <a:ext cx="2335576" cy="26770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C26E63-0CD6-2CF3-B4DA-B392B5E132C4}"/>
              </a:ext>
            </a:extLst>
          </p:cNvPr>
          <p:cNvSpPr/>
          <p:nvPr/>
        </p:nvSpPr>
        <p:spPr>
          <a:xfrm>
            <a:off x="6310828" y="1013551"/>
            <a:ext cx="3516218" cy="14542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EC221A-C1D7-4710-8FEC-B2A1933CDD61}"/>
              </a:ext>
            </a:extLst>
          </p:cNvPr>
          <p:cNvSpPr/>
          <p:nvPr/>
        </p:nvSpPr>
        <p:spPr>
          <a:xfrm>
            <a:off x="5007574" y="3249974"/>
            <a:ext cx="1553379" cy="2594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CB9263-FB72-ABAD-652C-402A94028AF9}"/>
              </a:ext>
            </a:extLst>
          </p:cNvPr>
          <p:cNvSpPr/>
          <p:nvPr/>
        </p:nvSpPr>
        <p:spPr>
          <a:xfrm>
            <a:off x="7287157" y="3249975"/>
            <a:ext cx="1553379" cy="2594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234410-971C-A624-ED5A-BC7BDF6D212D}"/>
              </a:ext>
            </a:extLst>
          </p:cNvPr>
          <p:cNvSpPr/>
          <p:nvPr/>
        </p:nvSpPr>
        <p:spPr>
          <a:xfrm>
            <a:off x="9508990" y="3249974"/>
            <a:ext cx="1553379" cy="2594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54B2B3-682E-C9B5-1C8E-09F2E2C69624}"/>
              </a:ext>
            </a:extLst>
          </p:cNvPr>
          <p:cNvSpPr txBox="1"/>
          <p:nvPr/>
        </p:nvSpPr>
        <p:spPr>
          <a:xfrm>
            <a:off x="2021594" y="1107600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Client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DAC476-E8B7-7223-09E0-BABB54841191}"/>
              </a:ext>
            </a:extLst>
          </p:cNvPr>
          <p:cNvSpPr txBox="1"/>
          <p:nvPr/>
        </p:nvSpPr>
        <p:spPr>
          <a:xfrm>
            <a:off x="7325298" y="1107600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Manager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C138B6-ED8E-EFC5-4B91-2B80CE690330}"/>
              </a:ext>
            </a:extLst>
          </p:cNvPr>
          <p:cNvSpPr txBox="1"/>
          <p:nvPr/>
        </p:nvSpPr>
        <p:spPr>
          <a:xfrm>
            <a:off x="5040624" y="3321316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Storager</a:t>
            </a:r>
            <a:r>
              <a:rPr lang="en-US" altLang="zh-CN" b="1" dirty="0"/>
              <a:t> 1</a:t>
            </a:r>
            <a:endParaRPr lang="zh-CN" altLang="en-US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C47EA0-B1FE-189D-F436-F68FEB35F102}"/>
              </a:ext>
            </a:extLst>
          </p:cNvPr>
          <p:cNvSpPr txBox="1"/>
          <p:nvPr/>
        </p:nvSpPr>
        <p:spPr>
          <a:xfrm>
            <a:off x="7291332" y="3321318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Storager</a:t>
            </a:r>
            <a:r>
              <a:rPr lang="en-US" altLang="zh-CN" b="1" dirty="0"/>
              <a:t> 2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53FB0F-E279-0D18-CB30-0886C00BCFA7}"/>
              </a:ext>
            </a:extLst>
          </p:cNvPr>
          <p:cNvSpPr txBox="1"/>
          <p:nvPr/>
        </p:nvSpPr>
        <p:spPr>
          <a:xfrm>
            <a:off x="9575092" y="3321317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Storager</a:t>
            </a:r>
            <a:r>
              <a:rPr lang="en-US" altLang="zh-CN" b="1" dirty="0"/>
              <a:t> 3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B5493E-68FD-D76C-B163-C0E96C3C5E06}"/>
              </a:ext>
            </a:extLst>
          </p:cNvPr>
          <p:cNvSpPr txBox="1"/>
          <p:nvPr/>
        </p:nvSpPr>
        <p:spPr>
          <a:xfrm>
            <a:off x="1860457" y="1665170"/>
            <a:ext cx="180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&lt;fid,{k1,k2,k3}&gt;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44D2D6-D0B2-82B5-0A1F-028DD67D3F5B}"/>
              </a:ext>
            </a:extLst>
          </p:cNvPr>
          <p:cNvSpPr txBox="1"/>
          <p:nvPr/>
        </p:nvSpPr>
        <p:spPr>
          <a:xfrm>
            <a:off x="2192529" y="2400911"/>
            <a:ext cx="1145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&lt;k1,fid&gt;</a:t>
            </a:r>
          </a:p>
          <a:p>
            <a:pPr algn="ctr"/>
            <a:r>
              <a:rPr lang="en-US" altLang="zh-CN" dirty="0"/>
              <a:t>&lt;k2,fid&gt;</a:t>
            </a:r>
          </a:p>
          <a:p>
            <a:pPr algn="ctr"/>
            <a:r>
              <a:rPr lang="en-US" altLang="zh-CN" dirty="0"/>
              <a:t>&lt;k3,fid&gt;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674D5D-F72B-3EA6-52D1-116F1900AE2C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2765232" y="2034502"/>
            <a:ext cx="0" cy="366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8B339F0-6245-95B0-A2BF-6D3F7F2D428A}"/>
              </a:ext>
            </a:extLst>
          </p:cNvPr>
          <p:cNvSpPr txBox="1"/>
          <p:nvPr/>
        </p:nvSpPr>
        <p:spPr>
          <a:xfrm>
            <a:off x="7421548" y="1703670"/>
            <a:ext cx="132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Co-Hash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BE8C9E-C538-5DBA-58D5-083882E768A0}"/>
              </a:ext>
            </a:extLst>
          </p:cNvPr>
          <p:cNvSpPr txBox="1"/>
          <p:nvPr/>
        </p:nvSpPr>
        <p:spPr>
          <a:xfrm>
            <a:off x="5120119" y="3761990"/>
            <a:ext cx="132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ADSs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65501A-9F98-B6EC-CCBD-5FCD8D0ED5FA}"/>
              </a:ext>
            </a:extLst>
          </p:cNvPr>
          <p:cNvSpPr txBox="1"/>
          <p:nvPr/>
        </p:nvSpPr>
        <p:spPr>
          <a:xfrm>
            <a:off x="7370827" y="3761990"/>
            <a:ext cx="132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ADSs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875A1F-E93B-DD51-E843-C3972504E9BE}"/>
              </a:ext>
            </a:extLst>
          </p:cNvPr>
          <p:cNvSpPr txBox="1"/>
          <p:nvPr/>
        </p:nvSpPr>
        <p:spPr>
          <a:xfrm>
            <a:off x="9621536" y="3761990"/>
            <a:ext cx="132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ADSs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D3E788-3D5B-2570-63A4-546E29739B88}"/>
              </a:ext>
            </a:extLst>
          </p:cNvPr>
          <p:cNvSpPr txBox="1"/>
          <p:nvPr/>
        </p:nvSpPr>
        <p:spPr>
          <a:xfrm>
            <a:off x="5207009" y="4305882"/>
            <a:ext cx="1154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  <a:r>
              <a:rPr lang="en-US" altLang="zh-CN" dirty="0"/>
              <a:t>MPT</a:t>
            </a:r>
          </a:p>
          <a:p>
            <a:r>
              <a:rPr lang="zh-CN" altLang="en-US" dirty="0"/>
              <a:t>②</a:t>
            </a:r>
            <a:r>
              <a:rPr lang="en-US" altLang="zh-CN" dirty="0"/>
              <a:t>MEST</a:t>
            </a:r>
          </a:p>
          <a:p>
            <a:r>
              <a:rPr lang="zh-CN" altLang="en-US" dirty="0"/>
              <a:t>③</a:t>
            </a:r>
            <a:r>
              <a:rPr lang="en-US" altLang="zh-CN" dirty="0" err="1"/>
              <a:t>VChain</a:t>
            </a:r>
            <a:endParaRPr lang="en-US" altLang="zh-CN" dirty="0"/>
          </a:p>
          <a:p>
            <a:r>
              <a:rPr lang="zh-CN" altLang="en-US" dirty="0"/>
              <a:t>④</a:t>
            </a:r>
            <a:r>
              <a:rPr lang="en-US" altLang="zh-CN" dirty="0" err="1"/>
              <a:t>AccTrie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F2E1D1-476E-C88D-A7C0-2291A8D1CC33}"/>
              </a:ext>
            </a:extLst>
          </p:cNvPr>
          <p:cNvSpPr txBox="1"/>
          <p:nvPr/>
        </p:nvSpPr>
        <p:spPr>
          <a:xfrm>
            <a:off x="7457715" y="4305881"/>
            <a:ext cx="1154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  <a:r>
              <a:rPr lang="en-US" altLang="zh-CN" dirty="0"/>
              <a:t>MPT</a:t>
            </a:r>
          </a:p>
          <a:p>
            <a:r>
              <a:rPr lang="zh-CN" altLang="en-US" dirty="0"/>
              <a:t>②</a:t>
            </a:r>
            <a:r>
              <a:rPr lang="en-US" altLang="zh-CN" dirty="0"/>
              <a:t>MEST</a:t>
            </a:r>
          </a:p>
          <a:p>
            <a:r>
              <a:rPr lang="zh-CN" altLang="en-US" dirty="0"/>
              <a:t>③</a:t>
            </a:r>
            <a:r>
              <a:rPr lang="en-US" altLang="zh-CN" dirty="0" err="1"/>
              <a:t>VChain</a:t>
            </a:r>
            <a:endParaRPr lang="en-US" altLang="zh-CN" dirty="0"/>
          </a:p>
          <a:p>
            <a:r>
              <a:rPr lang="zh-CN" altLang="en-US" dirty="0"/>
              <a:t>④</a:t>
            </a:r>
            <a:r>
              <a:rPr lang="en-US" altLang="zh-CN" dirty="0" err="1"/>
              <a:t>AccTrie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36F31DC-CB5B-34E3-7763-9C75C28488AA}"/>
              </a:ext>
            </a:extLst>
          </p:cNvPr>
          <p:cNvSpPr txBox="1"/>
          <p:nvPr/>
        </p:nvSpPr>
        <p:spPr>
          <a:xfrm>
            <a:off x="9741475" y="4305880"/>
            <a:ext cx="1154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  <a:r>
              <a:rPr lang="en-US" altLang="zh-CN" dirty="0"/>
              <a:t>MPT</a:t>
            </a:r>
          </a:p>
          <a:p>
            <a:r>
              <a:rPr lang="zh-CN" altLang="en-US" dirty="0"/>
              <a:t>②</a:t>
            </a:r>
            <a:r>
              <a:rPr lang="en-US" altLang="zh-CN" dirty="0"/>
              <a:t>MEST</a:t>
            </a:r>
          </a:p>
          <a:p>
            <a:r>
              <a:rPr lang="zh-CN" altLang="en-US" dirty="0"/>
              <a:t>③</a:t>
            </a:r>
            <a:r>
              <a:rPr lang="en-US" altLang="zh-CN" dirty="0" err="1"/>
              <a:t>VChain</a:t>
            </a:r>
            <a:endParaRPr lang="en-US" altLang="zh-CN" dirty="0"/>
          </a:p>
          <a:p>
            <a:r>
              <a:rPr lang="zh-CN" altLang="en-US" dirty="0"/>
              <a:t>④</a:t>
            </a:r>
            <a:r>
              <a:rPr lang="en-US" altLang="zh-CN" dirty="0" err="1"/>
              <a:t>AccTrie</a:t>
            </a:r>
            <a:endParaRPr lang="zh-CN" altLang="en-US" dirty="0"/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6B042CDE-E1A6-3775-AAC1-C019B8E1E097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933021" y="1740665"/>
            <a:ext cx="2377807" cy="611436"/>
          </a:xfrm>
          <a:prstGeom prst="curvedConnector3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C18F4B3-17C8-5A95-5FA2-BACD23B4D66D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6535503" y="1716540"/>
            <a:ext cx="782196" cy="228467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0B0DC641-2643-EDFE-B06B-299D3407354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7675294" y="2856331"/>
            <a:ext cx="782197" cy="509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6B027290-47DC-FAFE-6C78-D1F04D4D350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8786210" y="1750504"/>
            <a:ext cx="782196" cy="2216743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0C8D5D8-9CDB-40A2-B657-98A01867B881}"/>
              </a:ext>
            </a:extLst>
          </p:cNvPr>
          <p:cNvSpPr txBox="1"/>
          <p:nvPr/>
        </p:nvSpPr>
        <p:spPr>
          <a:xfrm>
            <a:off x="1350317" y="4571286"/>
            <a:ext cx="282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面向分布式存储系统的搜索引擎架构图</a:t>
            </a:r>
          </a:p>
        </p:txBody>
      </p:sp>
    </p:spTree>
    <p:extLst>
      <p:ext uri="{BB962C8B-B14F-4D97-AF65-F5344CB8AC3E}">
        <p14:creationId xmlns:p14="http://schemas.microsoft.com/office/powerpoint/2010/main" val="216234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CCA5212-F5AE-4A2F-31D5-DA61DF39243B}"/>
              </a:ext>
            </a:extLst>
          </p:cNvPr>
          <p:cNvSpPr/>
          <p:nvPr/>
        </p:nvSpPr>
        <p:spPr>
          <a:xfrm>
            <a:off x="1597445" y="571764"/>
            <a:ext cx="2335576" cy="26770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C5BDC7-E615-BA89-04D0-AFD889CB2D8B}"/>
              </a:ext>
            </a:extLst>
          </p:cNvPr>
          <p:cNvSpPr/>
          <p:nvPr/>
        </p:nvSpPr>
        <p:spPr>
          <a:xfrm>
            <a:off x="6310828" y="1013551"/>
            <a:ext cx="3516218" cy="14542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5C0DEC-D979-17E2-290E-74BD966986A7}"/>
              </a:ext>
            </a:extLst>
          </p:cNvPr>
          <p:cNvSpPr/>
          <p:nvPr/>
        </p:nvSpPr>
        <p:spPr>
          <a:xfrm>
            <a:off x="4828854" y="3249974"/>
            <a:ext cx="3953164" cy="29967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B453AD-880B-BDD2-49C6-274ED55E4A1D}"/>
              </a:ext>
            </a:extLst>
          </p:cNvPr>
          <p:cNvSpPr/>
          <p:nvPr/>
        </p:nvSpPr>
        <p:spPr>
          <a:xfrm>
            <a:off x="9425166" y="3249973"/>
            <a:ext cx="860362" cy="29967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4B84C8-DBF7-97DD-5F6A-A452771918FE}"/>
              </a:ext>
            </a:extLst>
          </p:cNvPr>
          <p:cNvSpPr/>
          <p:nvPr/>
        </p:nvSpPr>
        <p:spPr>
          <a:xfrm>
            <a:off x="10715709" y="3249974"/>
            <a:ext cx="860362" cy="29967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37664A-2F36-53C7-B542-5E507DE30745}"/>
              </a:ext>
            </a:extLst>
          </p:cNvPr>
          <p:cNvSpPr txBox="1"/>
          <p:nvPr/>
        </p:nvSpPr>
        <p:spPr>
          <a:xfrm>
            <a:off x="2021594" y="665813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Client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16A502-FD93-9867-BDF4-4618553242F5}"/>
              </a:ext>
            </a:extLst>
          </p:cNvPr>
          <p:cNvSpPr txBox="1"/>
          <p:nvPr/>
        </p:nvSpPr>
        <p:spPr>
          <a:xfrm>
            <a:off x="7325298" y="1107600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Manager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F5989C-3B16-E05D-697E-B3A816ECF94B}"/>
              </a:ext>
            </a:extLst>
          </p:cNvPr>
          <p:cNvSpPr txBox="1"/>
          <p:nvPr/>
        </p:nvSpPr>
        <p:spPr>
          <a:xfrm>
            <a:off x="6149866" y="3290586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Storager</a:t>
            </a:r>
            <a:r>
              <a:rPr lang="en-US" altLang="zh-CN" b="1" dirty="0"/>
              <a:t> 1</a:t>
            </a:r>
            <a:endParaRPr lang="zh-CN" altLang="en-US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B3BEE8-B9E0-BFD1-02F5-9C70C35819A7}"/>
              </a:ext>
            </a:extLst>
          </p:cNvPr>
          <p:cNvSpPr txBox="1"/>
          <p:nvPr/>
        </p:nvSpPr>
        <p:spPr>
          <a:xfrm rot="16200000">
            <a:off x="9083407" y="4362542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Storager</a:t>
            </a:r>
            <a:r>
              <a:rPr lang="en-US" altLang="zh-CN" b="1" dirty="0"/>
              <a:t> 2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A11B09-DC51-9A1B-68A4-494BABEE6A49}"/>
              </a:ext>
            </a:extLst>
          </p:cNvPr>
          <p:cNvSpPr txBox="1"/>
          <p:nvPr/>
        </p:nvSpPr>
        <p:spPr>
          <a:xfrm rot="16200000">
            <a:off x="10390772" y="4362544"/>
            <a:ext cx="148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Storager</a:t>
            </a:r>
            <a:r>
              <a:rPr lang="en-US" altLang="zh-CN" b="1" dirty="0"/>
              <a:t> 3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403CD3-458A-DD5A-AACC-D093E853805E}"/>
              </a:ext>
            </a:extLst>
          </p:cNvPr>
          <p:cNvSpPr txBox="1"/>
          <p:nvPr/>
        </p:nvSpPr>
        <p:spPr>
          <a:xfrm>
            <a:off x="1860457" y="1223383"/>
            <a:ext cx="180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&lt;fid,{k1,k2,k3}&gt;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2A8491-50A8-8B08-6DF5-8CEA29ABB8B1}"/>
              </a:ext>
            </a:extLst>
          </p:cNvPr>
          <p:cNvSpPr txBox="1"/>
          <p:nvPr/>
        </p:nvSpPr>
        <p:spPr>
          <a:xfrm>
            <a:off x="2192529" y="1959124"/>
            <a:ext cx="1145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&lt;k1,fid&gt;</a:t>
            </a:r>
          </a:p>
          <a:p>
            <a:pPr algn="ctr"/>
            <a:r>
              <a:rPr lang="en-US" altLang="zh-CN" dirty="0"/>
              <a:t>&lt;k2,fid&gt;</a:t>
            </a:r>
          </a:p>
          <a:p>
            <a:pPr algn="ctr"/>
            <a:r>
              <a:rPr lang="en-US" altLang="zh-CN" dirty="0"/>
              <a:t>&lt;k3,fid&gt;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D1BF10C-CA0A-0C05-806B-B9B12D4A18C3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2765232" y="1592715"/>
            <a:ext cx="0" cy="366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39853A8-6C79-1338-1D5B-3FD933B59B78}"/>
              </a:ext>
            </a:extLst>
          </p:cNvPr>
          <p:cNvSpPr txBox="1"/>
          <p:nvPr/>
        </p:nvSpPr>
        <p:spPr>
          <a:xfrm>
            <a:off x="7421548" y="1703670"/>
            <a:ext cx="132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Co-Hash</a:t>
            </a:r>
            <a:endParaRPr lang="zh-CN" altLang="en-US" dirty="0"/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7AD40117-C60D-7F8F-F70D-48D80EC064CB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933021" y="1740665"/>
            <a:ext cx="2377807" cy="169649"/>
          </a:xfrm>
          <a:prstGeom prst="curvedConnector3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7E897731-CE4F-47C4-F918-DCE7BAFB89A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7046089" y="2227126"/>
            <a:ext cx="782196" cy="1263501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9DC672C9-00FC-0FB2-278D-1AEF94531B81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8571045" y="1965670"/>
            <a:ext cx="782195" cy="178641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6D4E261F-9BA9-6243-A291-2702BE6B7AF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9216315" y="1320399"/>
            <a:ext cx="782196" cy="3076953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FE0C3DA-F903-BD4B-88D3-22B4E3C873FE}"/>
              </a:ext>
            </a:extLst>
          </p:cNvPr>
          <p:cNvSpPr txBox="1"/>
          <p:nvPr/>
        </p:nvSpPr>
        <p:spPr>
          <a:xfrm>
            <a:off x="6831486" y="2694516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&lt;k1,fid&gt;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FDEFFE1-77D3-DF87-80A8-89A3330F5969}"/>
              </a:ext>
            </a:extLst>
          </p:cNvPr>
          <p:cNvSpPr txBox="1"/>
          <p:nvPr/>
        </p:nvSpPr>
        <p:spPr>
          <a:xfrm>
            <a:off x="9069676" y="2846811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&lt;k2,fid&gt;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26F07AE-CE5D-12C6-54C6-3A75362A9408}"/>
              </a:ext>
            </a:extLst>
          </p:cNvPr>
          <p:cNvSpPr txBox="1"/>
          <p:nvPr/>
        </p:nvSpPr>
        <p:spPr>
          <a:xfrm>
            <a:off x="10143006" y="2812981"/>
            <a:ext cx="11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&lt;k3,fid&gt;</a:t>
            </a:r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B449AB07-2D4E-7D92-F7EE-E75C53897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25515"/>
              </p:ext>
            </p:extLst>
          </p:nvPr>
        </p:nvGraphicFramePr>
        <p:xfrm>
          <a:off x="5054056" y="3922005"/>
          <a:ext cx="35548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486">
                  <a:extLst>
                    <a:ext uri="{9D8B030D-6E8A-4147-A177-3AD203B41FA5}">
                      <a16:colId xmlns:a16="http://schemas.microsoft.com/office/drawing/2014/main" val="1850716159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3585250148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927467298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1014500944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2485687745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3520781647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651158751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307089865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4254016708"/>
                    </a:ext>
                  </a:extLst>
                </a:gridCol>
                <a:gridCol w="355486">
                  <a:extLst>
                    <a:ext uri="{9D8B030D-6E8A-4147-A177-3AD203B41FA5}">
                      <a16:colId xmlns:a16="http://schemas.microsoft.com/office/drawing/2014/main" val="3990626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37346"/>
                  </a:ext>
                </a:extLst>
              </a:tr>
            </a:tbl>
          </a:graphicData>
        </a:graphic>
      </p:graphicFrame>
      <p:sp>
        <p:nvSpPr>
          <p:cNvPr id="42" name="椭圆 41">
            <a:extLst>
              <a:ext uri="{FF2B5EF4-FFF2-40B4-BE49-F238E27FC236}">
                <a16:creationId xmlns:a16="http://schemas.microsoft.com/office/drawing/2014/main" id="{57757148-8C64-71D6-2830-68C073C387BD}"/>
              </a:ext>
            </a:extLst>
          </p:cNvPr>
          <p:cNvSpPr/>
          <p:nvPr/>
        </p:nvSpPr>
        <p:spPr>
          <a:xfrm>
            <a:off x="5726051" y="4554932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8BEE516-F9A8-A4A2-917E-20CE561956F9}"/>
              </a:ext>
            </a:extLst>
          </p:cNvPr>
          <p:cNvSpPr/>
          <p:nvPr/>
        </p:nvSpPr>
        <p:spPr>
          <a:xfrm>
            <a:off x="5251728" y="5075041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1ECF28DB-E6D9-C9E5-4050-891A1A06E6BD}"/>
              </a:ext>
            </a:extLst>
          </p:cNvPr>
          <p:cNvSpPr/>
          <p:nvPr/>
        </p:nvSpPr>
        <p:spPr>
          <a:xfrm>
            <a:off x="6198581" y="5075040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83CDB74-A8D2-4120-D35B-F13D57AB65B2}"/>
              </a:ext>
            </a:extLst>
          </p:cNvPr>
          <p:cNvSpPr/>
          <p:nvPr/>
        </p:nvSpPr>
        <p:spPr>
          <a:xfrm>
            <a:off x="5035969" y="5703925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C405B27-2314-6AB9-50E7-FB21088AC27F}"/>
              </a:ext>
            </a:extLst>
          </p:cNvPr>
          <p:cNvSpPr/>
          <p:nvPr/>
        </p:nvSpPr>
        <p:spPr>
          <a:xfrm>
            <a:off x="5470832" y="5703924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5B91881-A543-83D8-30E9-D23A9182F065}"/>
              </a:ext>
            </a:extLst>
          </p:cNvPr>
          <p:cNvSpPr/>
          <p:nvPr/>
        </p:nvSpPr>
        <p:spPr>
          <a:xfrm>
            <a:off x="5982824" y="5703924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1561CD7-AE0B-2AA3-6682-33EB4F72867C}"/>
              </a:ext>
            </a:extLst>
          </p:cNvPr>
          <p:cNvSpPr/>
          <p:nvPr/>
        </p:nvSpPr>
        <p:spPr>
          <a:xfrm>
            <a:off x="6412945" y="5703924"/>
            <a:ext cx="308225" cy="30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9987890-CEC0-389E-9172-8CF5A6D8A1F2}"/>
              </a:ext>
            </a:extLst>
          </p:cNvPr>
          <p:cNvCxnSpPr>
            <a:cxnSpLocks/>
            <a:stCxn id="42" idx="3"/>
            <a:endCxn id="43" idx="7"/>
          </p:cNvCxnSpPr>
          <p:nvPr/>
        </p:nvCxnSpPr>
        <p:spPr>
          <a:xfrm flipH="1">
            <a:off x="5514814" y="4818018"/>
            <a:ext cx="256376" cy="302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96B712B-DFCB-769E-EF26-B5621CBC835D}"/>
              </a:ext>
            </a:extLst>
          </p:cNvPr>
          <p:cNvCxnSpPr>
            <a:cxnSpLocks/>
            <a:stCxn id="42" idx="5"/>
            <a:endCxn id="44" idx="1"/>
          </p:cNvCxnSpPr>
          <p:nvPr/>
        </p:nvCxnSpPr>
        <p:spPr>
          <a:xfrm>
            <a:off x="5989137" y="4818018"/>
            <a:ext cx="254583" cy="302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9EEF40EC-5DDA-60F6-5F91-B7E818EE5896}"/>
              </a:ext>
            </a:extLst>
          </p:cNvPr>
          <p:cNvCxnSpPr>
            <a:cxnSpLocks/>
            <a:stCxn id="43" idx="3"/>
            <a:endCxn id="45" idx="0"/>
          </p:cNvCxnSpPr>
          <p:nvPr/>
        </p:nvCxnSpPr>
        <p:spPr>
          <a:xfrm flipH="1">
            <a:off x="5190082" y="5338127"/>
            <a:ext cx="106785" cy="36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F03C594A-BFD1-4281-D318-61D8AAEF1320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>
          <a:xfrm>
            <a:off x="5514814" y="5338127"/>
            <a:ext cx="110131" cy="365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E842F36-ADB9-30D0-FA66-FC31B94EA987}"/>
              </a:ext>
            </a:extLst>
          </p:cNvPr>
          <p:cNvCxnSpPr>
            <a:cxnSpLocks/>
            <a:stCxn id="44" idx="3"/>
            <a:endCxn id="47" idx="0"/>
          </p:cNvCxnSpPr>
          <p:nvPr/>
        </p:nvCxnSpPr>
        <p:spPr>
          <a:xfrm flipH="1">
            <a:off x="6136937" y="5338126"/>
            <a:ext cx="106783" cy="36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02CB52C-90A2-02EE-B4DF-7B6601710DC8}"/>
              </a:ext>
            </a:extLst>
          </p:cNvPr>
          <p:cNvCxnSpPr>
            <a:cxnSpLocks/>
            <a:stCxn id="44" idx="5"/>
            <a:endCxn id="48" idx="0"/>
          </p:cNvCxnSpPr>
          <p:nvPr/>
        </p:nvCxnSpPr>
        <p:spPr>
          <a:xfrm>
            <a:off x="6461667" y="5338126"/>
            <a:ext cx="105391" cy="36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772BCF5D-1733-15D1-4B46-3FE4E7A31B07}"/>
              </a:ext>
            </a:extLst>
          </p:cNvPr>
          <p:cNvCxnSpPr>
            <a:cxnSpLocks/>
            <a:stCxn id="42" idx="2"/>
          </p:cNvCxnSpPr>
          <p:nvPr/>
        </p:nvCxnSpPr>
        <p:spPr>
          <a:xfrm rot="10800000">
            <a:off x="5243475" y="4068271"/>
            <a:ext cx="482577" cy="640774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椭圆 76">
            <a:extLst>
              <a:ext uri="{FF2B5EF4-FFF2-40B4-BE49-F238E27FC236}">
                <a16:creationId xmlns:a16="http://schemas.microsoft.com/office/drawing/2014/main" id="{3B3582AB-E78E-B8B3-4A73-C40DED504DAA}"/>
              </a:ext>
            </a:extLst>
          </p:cNvPr>
          <p:cNvSpPr/>
          <p:nvPr/>
        </p:nvSpPr>
        <p:spPr>
          <a:xfrm>
            <a:off x="7017073" y="5690336"/>
            <a:ext cx="308225" cy="308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连接符: 曲线 78">
            <a:extLst>
              <a:ext uri="{FF2B5EF4-FFF2-40B4-BE49-F238E27FC236}">
                <a16:creationId xmlns:a16="http://schemas.microsoft.com/office/drawing/2014/main" id="{3768C4D7-FBE8-7CCA-814C-FB2230941E65}"/>
              </a:ext>
            </a:extLst>
          </p:cNvPr>
          <p:cNvCxnSpPr>
            <a:cxnSpLocks/>
            <a:stCxn id="77" idx="0"/>
          </p:cNvCxnSpPr>
          <p:nvPr/>
        </p:nvCxnSpPr>
        <p:spPr>
          <a:xfrm rot="16200000" flipV="1">
            <a:off x="5566722" y="4085872"/>
            <a:ext cx="1617550" cy="1591378"/>
          </a:xfrm>
          <a:prstGeom prst="curvedConnector3">
            <a:avLst>
              <a:gd name="adj1" fmla="val 67785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8DEB7526-AB77-8466-B3A2-9E83EB699145}"/>
              </a:ext>
            </a:extLst>
          </p:cNvPr>
          <p:cNvSpPr txBox="1"/>
          <p:nvPr/>
        </p:nvSpPr>
        <p:spPr>
          <a:xfrm>
            <a:off x="688369" y="3659918"/>
            <a:ext cx="3782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Vchain</a:t>
            </a:r>
            <a:r>
              <a:rPr lang="en-US" altLang="zh-CN" dirty="0"/>
              <a:t>: </a:t>
            </a:r>
            <a:r>
              <a:rPr lang="zh-CN" altLang="en-US" dirty="0"/>
              <a:t>二叉树</a:t>
            </a:r>
            <a:r>
              <a:rPr lang="en-US" altLang="zh-CN" dirty="0"/>
              <a:t>+Accumulator</a:t>
            </a:r>
          </a:p>
          <a:p>
            <a:r>
              <a:rPr lang="zh-CN" altLang="en-US" dirty="0"/>
              <a:t>根节点目录：保存所有树的根节点</a:t>
            </a:r>
            <a:endParaRPr lang="en-US" altLang="zh-CN" dirty="0"/>
          </a:p>
          <a:p>
            <a:r>
              <a:rPr lang="zh-CN" altLang="en-US" dirty="0"/>
              <a:t>叶子节点：</a:t>
            </a:r>
            <a:r>
              <a:rPr lang="en-US" altLang="zh-CN" dirty="0"/>
              <a:t>&lt;hash(&lt;k1,fid&gt;),k1,Acc&gt;</a:t>
            </a:r>
          </a:p>
          <a:p>
            <a:r>
              <a:rPr lang="zh-CN" altLang="en-US" dirty="0"/>
              <a:t>中间节点：</a:t>
            </a:r>
            <a:r>
              <a:rPr lang="en-US" altLang="zh-CN" dirty="0"/>
              <a:t>&lt;hash(</a:t>
            </a:r>
            <a:r>
              <a:rPr lang="en-US" altLang="zh-CN" dirty="0" err="1"/>
              <a:t>childs</a:t>
            </a:r>
            <a:r>
              <a:rPr lang="en-US" altLang="zh-CN" dirty="0"/>
              <a:t>),{k},Acc&gt;</a:t>
            </a:r>
            <a:r>
              <a:rPr lang="zh-CN" altLang="en-US" dirty="0"/>
              <a:t>，包含所有子节点的关键词，并写入</a:t>
            </a:r>
            <a:r>
              <a:rPr lang="en-US" altLang="zh-CN" dirty="0"/>
              <a:t>Acc</a:t>
            </a:r>
            <a:r>
              <a:rPr lang="zh-CN" altLang="en-US" dirty="0"/>
              <a:t>中。</a:t>
            </a:r>
            <a:endParaRPr lang="en-US" altLang="zh-CN" dirty="0"/>
          </a:p>
          <a:p>
            <a:r>
              <a:rPr lang="zh-CN" altLang="en-US"/>
              <a:t>自下而上构建，两两配对后生成父节点，所有树的根节点放进目录中。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025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23770</TotalTime>
  <Words>1274</Words>
  <Application>Microsoft Office PowerPoint</Application>
  <PresentationFormat>宽屏</PresentationFormat>
  <Paragraphs>117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Wingdings</vt:lpstr>
      <vt:lpstr>Office 主题​​</vt:lpstr>
      <vt:lpstr>面向去中心化存储系统的可验证倒排索引</vt:lpstr>
      <vt:lpstr>面向去中心化存储系统的可验证倒排索引</vt:lpstr>
      <vt:lpstr>面向去中心化存储系统的可验证倒排索引</vt:lpstr>
      <vt:lpstr>面向去中心化存储系统的可验证倒排索引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金萍 贾</dc:creator>
  <cp:lastModifiedBy>金萍 贾</cp:lastModifiedBy>
  <cp:revision>18</cp:revision>
  <dcterms:created xsi:type="dcterms:W3CDTF">2025-08-22T05:38:25Z</dcterms:created>
  <dcterms:modified xsi:type="dcterms:W3CDTF">2025-11-29T07:22:08Z</dcterms:modified>
</cp:coreProperties>
</file>